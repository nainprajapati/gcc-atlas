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6837554c-89cd-3a45-a290-8bc582a9614c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457200" y="1097280"/>
            <a:ext cx="109728" cy="201168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GCC Atlas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The verified source of truth for setting up a Global Capability Centre in India: sourced, not sponsored.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Product Intern assignment for Flexiple  |  Nain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 company entering India deals with 8+ parties and no shared facts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SAME ECOSYSTEM, DIFFERENT NUMBERS</a:t>
            </a:r>
            <a:endParaRPr lang="en-US" sz="1100" dirty="0"/>
          </a:p>
        </p:txBody>
      </p:sp>
      <p:sp>
        <p:nvSpPr>
          <p:cNvPr id="4" name="stat card 0"/>
          <p:cNvSpPr/>
          <p:nvPr/>
        </p:nvSpPr>
        <p:spPr>
          <a:xfrm>
            <a:off x="457200" y="1554480"/>
            <a:ext cx="4023360" cy="86868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459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2,117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6459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GCCs in India, across 3,728 units (Zinnov-Nasscom, FY26)</a:t>
            </a:r>
            <a:endParaRPr lang="en-US" sz="1100" dirty="0"/>
          </a:p>
        </p:txBody>
      </p:sp>
      <p:sp>
        <p:nvSpPr>
          <p:cNvPr id="7" name="stat card 1"/>
          <p:cNvSpPr/>
          <p:nvPr/>
        </p:nvSpPr>
        <p:spPr>
          <a:xfrm>
            <a:off x="457200" y="2560320"/>
            <a:ext cx="4023360" cy="86868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6517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1,700+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651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GCCs in the same authors' FY24 report; parents and units get quoted as one number</a:t>
            </a:r>
            <a:endParaRPr lang="en-US" sz="1100" dirty="0"/>
          </a:p>
        </p:txBody>
      </p:sp>
      <p:sp>
        <p:nvSpPr>
          <p:cNvPr id="10" name="stat card 2"/>
          <p:cNvSpPr/>
          <p:nvPr/>
        </p:nvSpPr>
        <p:spPr>
          <a:xfrm>
            <a:off x="457200" y="3566160"/>
            <a:ext cx="4023360" cy="86868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6576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 vs 875+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3657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Karnataka: GCCs per the state government vs. units per a law-firm note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WHO IS HURT, AND WHAT THEY DO TODAY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544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New-entrant GCC head: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picks city and providers by referral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Advisors, realtors, EOR: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hunt leads cold; cannot prove delivery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Good providers: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indistinguishable from good marketers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State governments: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compete on incentives with no view of buyer intent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Sources: Zinnov-Nasscom GCC Value Orbit 2026; Nasscom-Zinnov FY24 (ANI/Reuters); Mondaq, Jul 2026; Karnataka figure via Flexiple GCC statistics page.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Five opportunities: start where pain and data feasibility are both high</a:t>
            </a:r>
            <a:endParaRPr lang="en-US" sz="2400" dirty="0"/>
          </a:p>
        </p:txBody>
      </p:sp>
      <p:graphicFrame>
        <p:nvGraphicFramePr>
          <p:cNvPr id="4" name="opportun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731520"/>
                <a:gridCol w="822960"/>
                <a:gridCol w="1097280"/>
                <a:gridCol w="82296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Pays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GCC registry (who exists, who is coming)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Med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Med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590C"/>
                          </a:solidFill>
                        </a:rPr>
                        <a:t>Foundation: build 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City and incentive intelligence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Med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590C"/>
                          </a:solidFill>
                        </a:rPr>
                        <a:t>Wedge: build 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Provider track record (verified delivery)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Low, then Med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Very 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Moat: layer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Lead intelligence for providers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Med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Very 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Med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Med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Revenue: layer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Talent and cost benchmarks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Med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Med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Later: Naukri, LinkedIn compete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4" name="callout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39593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Why this order: registry plus city intelligence ships in weeks from public data. Provider track record is the real moat, but it only exists once GCCs are already on the platform.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GCC Atlas: start with the India-entry decision</a:t>
            </a:r>
            <a:endParaRPr lang="en-US" sz="2400" dirty="0"/>
          </a:p>
        </p:txBody>
      </p:sp>
      <p:sp>
        <p:nvSpPr>
          <p:cNvPr id="3" name="module 0"/>
          <p:cNvSpPr/>
          <p:nvPr/>
        </p:nvSpPr>
        <p:spPr>
          <a:xfrm>
            <a:off x="457200" y="1234440"/>
            <a:ext cx="2651760" cy="224028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4" name="module bar 0"/>
          <p:cNvSpPr/>
          <p:nvPr/>
        </p:nvSpPr>
        <p:spPr>
          <a:xfrm>
            <a:off x="457200" y="1234440"/>
            <a:ext cx="2651760" cy="7315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GCC registry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Searchable list of GCCs by city, sector, parent and year set up. Every row shows its source and date.</a:t>
            </a:r>
            <a:endParaRPr lang="en-US" sz="1200" dirty="0"/>
          </a:p>
        </p:txBody>
      </p:sp>
      <p:sp>
        <p:nvSpPr>
          <p:cNvPr id="7" name="module 1"/>
          <p:cNvSpPr/>
          <p:nvPr/>
        </p:nvSpPr>
        <p:spPr>
          <a:xfrm>
            <a:off x="3246120" y="1234440"/>
            <a:ext cx="2651760" cy="224028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8" name="module bar 1"/>
          <p:cNvSpPr/>
          <p:nvPr/>
        </p:nvSpPr>
        <p:spPr>
          <a:xfrm>
            <a:off x="3246120" y="1234440"/>
            <a:ext cx="2651760" cy="7315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City comparison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State incentives, office cost and talent cost side by side for the cities a company is weighing.</a:t>
            </a:r>
            <a:endParaRPr lang="en-US" sz="1200" dirty="0"/>
          </a:p>
        </p:txBody>
      </p:sp>
      <p:sp>
        <p:nvSpPr>
          <p:cNvPr id="11" name="module 2"/>
          <p:cNvSpPr/>
          <p:nvPr/>
        </p:nvSpPr>
        <p:spPr>
          <a:xfrm>
            <a:off x="6035040" y="1234440"/>
            <a:ext cx="2651760" cy="224028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12" name="module bar 2"/>
          <p:cNvSpPr/>
          <p:nvPr/>
        </p:nvSpPr>
        <p:spPr>
          <a:xfrm>
            <a:off x="6035040" y="1234440"/>
            <a:ext cx="2651760" cy="7315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Ask Atlas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"300-person fintech GCC: which city?" Answers cite the registry and policy sources, or say they cannot know.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First user: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the head of India setup at a company evaluating or expanding in India.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Left out of v1: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provider ratings, payments, talent marketplace. They need users first.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Positioning: sourced, not sponsored</a:t>
            </a:r>
            <a:endParaRPr lang="en-US" sz="2400" dirty="0"/>
          </a:p>
        </p:txBody>
      </p:sp>
      <p:graphicFrame>
        <p:nvGraphicFramePr>
          <p:cNvPr id="6" name="position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Today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Why it falls short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Atlas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Consultant reports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Static, paywalled, tied to the author's own services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Live, free to browse, no services to sell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Referrals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Trusted but unscalable and biased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Comparable evidence on every option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LinkedIn and Tracxn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People and funding data, not GCC-level facts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Built around GCC decisions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State portals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Each state shows only itself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All states on one comparison page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GCCs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come for neutral answers. 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Providers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come for qualified demand. 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States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come for visibility with buyers.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How we measure it, launch it, and what could break it</a:t>
            </a:r>
            <a:endParaRPr lang="en-US" sz="2400" dirty="0"/>
          </a:p>
        </p:txBody>
      </p:sp>
      <p:sp>
        <p:nvSpPr>
          <p:cNvPr id="3" name="col 0"/>
          <p:cNvSpPr/>
          <p:nvPr/>
        </p:nvSpPr>
        <p:spPr>
          <a:xfrm>
            <a:off x="457200" y="1234440"/>
            <a:ext cx="2651760" cy="310896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North star: city shortlists exported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Registry coverage vs. the Zinnov-Nasscom count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Share of rows with a cited source (target 100%)</a:t>
            </a:r>
            <a:endParaRPr lang="en-US" sz="1200" dirty="0"/>
          </a:p>
        </p:txBody>
      </p:sp>
      <p:sp>
        <p:nvSpPr>
          <p:cNvPr id="6" name="col 1"/>
          <p:cNvSpPr/>
          <p:nvPr/>
        </p:nvSpPr>
        <p:spPr>
          <a:xfrm>
            <a:off x="3246120" y="1234440"/>
            <a:ext cx="2651760" cy="310896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20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Seed ~500 GCCs from public filings and press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One SEO page per city comparison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Invite advisors to contribute verified deliveries</a:t>
            </a:r>
            <a:endParaRPr lang="en-US" sz="1200" dirty="0"/>
          </a:p>
        </p:txBody>
      </p:sp>
      <p:sp>
        <p:nvSpPr>
          <p:cNvPr id="9" name="col 2"/>
          <p:cNvSpPr/>
          <p:nvPr/>
        </p:nvSpPr>
        <p:spPr>
          <a:xfrm>
            <a:off x="6035040" y="1234440"/>
            <a:ext cx="2651760" cy="310896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and answers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20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Wrong data: source and date on every field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Cold start: useful before any user input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Provider bias: verified delivery, no paid ranking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Sources behind the numbers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Zinnov-Nasscom, GCC Value Orbit / India GCC Landscape 2026 (2,117 GCCs, 3,728 units, 2.36M people, $98.4B)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Nasscom-Zinnov FY24 report via ANI and Reuters (1,700+ GCCs, $64.6B)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CBRE, The Policy Advantage: Powering India's GCC Growth, Aug 2026 (state targets, 123M sq ft leased 2022 to H1 2026)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Mondaq, Choosing the right location in India for your GCC, Jul 2026 (Karnataka, Telangana, Maharashtra, Gujarat policies)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Law.asia, Indian states race to become GCC powerhouses (Tamil Nadu, Telangana incentives)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Flexiple GCC statistics page (Karnataka 500+ GCCs, 536 verified GCCs in six metros)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Note: reports disagree (for example Maharashtra's target is 200 GCCs in CBRE and 400 in another summary). The prototype will show conflicting figures rather than pick one silently.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CC Atlas">
  <a:themeElements>
    <a:clrScheme name="GCC Atlas">
      <a:dk1>
        <a:srgbClr val="1B1F3B"/>
      </a:dk1>
      <a:lt1>
        <a:srgbClr val="FFFFFF"/>
      </a:lt1>
      <a:dk2>
        <a:srgbClr val="2B3A67"/>
      </a:dk2>
      <a:lt2>
        <a:srgbClr val="F4F1EA"/>
      </a:lt2>
      <a:accent1>
        <a:srgbClr val="E8590C"/>
      </a:accent1>
      <a:accent2>
        <a:srgbClr val="0F766E"/>
      </a:accent2>
      <a:accent3>
        <a:srgbClr val="B91C1C"/>
      </a:accent3>
      <a:accent4>
        <a:srgbClr val="6B7280"/>
      </a:accent4>
      <a:accent5>
        <a:srgbClr val="CA8A04"/>
      </a:accent5>
      <a:accent6>
        <a:srgbClr val="4338CA"/>
      </a:accent6>
      <a:hlink>
        <a:srgbClr val="0F766E"/>
      </a:hlink>
      <a:folHlink>
        <a:srgbClr val="6B7280"/>
      </a:folHlink>
    </a:clrScheme>
    <a:fontScheme name="GCC Atla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GCC Atlas - Flexiple Product Intern assignment</dc:title>
  <dc:subject>PptxGenJS Presentation</dc:subject>
  <dc:creator>PptxGenJS</dc:creator>
  <cp:lastModifiedBy>PptxGenJS</cp:lastModifiedBy>
  <cp:revision>1</cp:revision>
  <dcterms:created xsi:type="dcterms:W3CDTF">2026-10-11T13:30:22Z</dcterms:created>
  <dcterms:modified xsi:type="dcterms:W3CDTF">2026-10-11T13:30:22Z</dcterms:modified>
</cp:coreProperties>
</file>